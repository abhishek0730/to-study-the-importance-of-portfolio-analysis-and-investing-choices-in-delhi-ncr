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71" r:id="rId5"/>
    <p:sldId id="264" r:id="rId6"/>
    <p:sldId id="265" r:id="rId7"/>
    <p:sldId id="266" r:id="rId8"/>
    <p:sldId id="272" r:id="rId9"/>
    <p:sldId id="273" r:id="rId10"/>
    <p:sldId id="274" r:id="rId11"/>
    <p:sldId id="275" r:id="rId12"/>
    <p:sldId id="258" r:id="rId13"/>
    <p:sldId id="276" r:id="rId14"/>
    <p:sldId id="260" r:id="rId15"/>
    <p:sldId id="270" r:id="rId16"/>
    <p:sldId id="277" r:id="rId17"/>
    <p:sldId id="27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1866" y="-4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88AA572-1D63-4F85-8570-AF75891588F2}"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2459064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88AA572-1D63-4F85-8570-AF75891588F2}"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1228583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88AA572-1D63-4F85-8570-AF75891588F2}"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1384617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88AA572-1D63-4F85-8570-AF75891588F2}"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3354233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88AA572-1D63-4F85-8570-AF75891588F2}" type="datetimeFigureOut">
              <a:rPr lang="en-IN" smtClean="0"/>
              <a:t>06-06-2023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103516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88AA572-1D63-4F85-8570-AF75891588F2}" type="datetimeFigureOut">
              <a:rPr lang="en-IN" smtClean="0"/>
              <a:t>06-06-2023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2522629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8AA572-1D63-4F85-8570-AF75891588F2}" type="datetimeFigureOut">
              <a:rPr lang="en-IN" smtClean="0"/>
              <a:t>06-06-2023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1309811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8AA572-1D63-4F85-8570-AF75891588F2}"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2372117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8AA572-1D63-4F85-8570-AF75891588F2}" type="datetimeFigureOut">
              <a:rPr lang="en-IN" smtClean="0"/>
              <a:t>06-06-2023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278950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88AA572-1D63-4F85-8570-AF75891588F2}"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4049393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88AA572-1D63-4F85-8570-AF75891588F2}" type="datetimeFigureOut">
              <a:rPr lang="en-IN" smtClean="0"/>
              <a:t>06-06-2023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3F608-1460-4D12-A948-4A3B5B6C936B}" type="slidenum">
              <a:rPr lang="en-IN" smtClean="0"/>
              <a:t>‹#›</a:t>
            </a:fld>
            <a:endParaRPr lang="en-IN"/>
          </a:p>
        </p:txBody>
      </p:sp>
    </p:spTree>
    <p:extLst>
      <p:ext uri="{BB962C8B-B14F-4D97-AF65-F5344CB8AC3E}">
        <p14:creationId xmlns:p14="http://schemas.microsoft.com/office/powerpoint/2010/main" val="2748954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8AA572-1D63-4F85-8570-AF75891588F2}" type="datetimeFigureOut">
              <a:rPr lang="en-IN" smtClean="0"/>
              <a:t>06-06-2023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3F608-1460-4D12-A948-4A3B5B6C936B}" type="slidenum">
              <a:rPr lang="en-IN" smtClean="0"/>
              <a:t>‹#›</a:t>
            </a:fld>
            <a:endParaRPr lang="en-IN"/>
          </a:p>
        </p:txBody>
      </p:sp>
    </p:spTree>
    <p:extLst>
      <p:ext uri="{BB962C8B-B14F-4D97-AF65-F5344CB8AC3E}">
        <p14:creationId xmlns:p14="http://schemas.microsoft.com/office/powerpoint/2010/main" val="3759869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4"/>
            <a:ext cx="7774632" cy="650503"/>
          </a:xfrm>
        </p:spPr>
        <p:txBody>
          <a:bodyPr>
            <a:normAutofit fontScale="90000"/>
          </a:bodyPr>
          <a:lstStyle/>
          <a:p>
            <a:endParaRPr lang="en-IN" dirty="0"/>
          </a:p>
        </p:txBody>
      </p:sp>
      <p:sp>
        <p:nvSpPr>
          <p:cNvPr id="3" name="Subtitle 2"/>
          <p:cNvSpPr>
            <a:spLocks noGrp="1"/>
          </p:cNvSpPr>
          <p:nvPr>
            <p:ph type="subTitle" idx="1"/>
          </p:nvPr>
        </p:nvSpPr>
        <p:spPr/>
        <p:txBody>
          <a:bodyPr/>
          <a:lstStyle/>
          <a:p>
            <a:endParaRPr lang="en-IN"/>
          </a:p>
        </p:txBody>
      </p:sp>
      <p:pic>
        <p:nvPicPr>
          <p:cNvPr id="1026"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4" y="-34851"/>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776385" y="116632"/>
            <a:ext cx="7158564" cy="2554545"/>
          </a:xfrm>
          <a:prstGeom prst="rect">
            <a:avLst/>
          </a:prstGeom>
          <a:noFill/>
        </p:spPr>
        <p:txBody>
          <a:bodyPr wrap="square" rtlCol="0">
            <a:spAutoFit/>
          </a:bodyPr>
          <a:lstStyle/>
          <a:p>
            <a:pPr algn="ctr"/>
            <a:r>
              <a:rPr lang="en-IN" sz="4000" b="1" dirty="0" smtClean="0">
                <a:latin typeface="Algerian" pitchFamily="82" charset="0"/>
              </a:rPr>
              <a:t> </a:t>
            </a:r>
            <a:r>
              <a:rPr lang="en-IN" sz="4000" b="1" dirty="0">
                <a:latin typeface="Algerian" pitchFamily="82" charset="0"/>
              </a:rPr>
              <a:t>TO STUDY THE IMPORTANCE OF PORTFOLIO ANALYSIS AND INVESTING CHOICES IN DELHI NCR </a:t>
            </a:r>
            <a:endParaRPr lang="en-IN" sz="4000" b="1" u="sng" dirty="0">
              <a:solidFill>
                <a:srgbClr val="002060"/>
              </a:solidFill>
              <a:latin typeface="Algerian" pitchFamily="82"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851"/>
            <a:ext cx="127635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010469" y="4654277"/>
            <a:ext cx="6826941" cy="1569660"/>
          </a:xfrm>
          <a:prstGeom prst="rect">
            <a:avLst/>
          </a:prstGeom>
          <a:noFill/>
          <a:ln>
            <a:solidFill>
              <a:schemeClr val="accent1"/>
            </a:solidFill>
          </a:ln>
        </p:spPr>
        <p:txBody>
          <a:bodyPr wrap="square" rtlCol="0">
            <a:spAutoFit/>
          </a:bodyPr>
          <a:lstStyle/>
          <a:p>
            <a:r>
              <a:rPr lang="en-US" sz="2400" b="1" dirty="0" smtClean="0">
                <a:solidFill>
                  <a:srgbClr val="C00000"/>
                </a:solidFill>
                <a:latin typeface="Algerian" pitchFamily="82" charset="0"/>
              </a:rPr>
              <a:t>SUBMITTED BY: ABHISHEK PANDEY</a:t>
            </a:r>
          </a:p>
          <a:p>
            <a:r>
              <a:rPr lang="en-US" sz="2400" b="1" dirty="0" smtClean="0">
                <a:solidFill>
                  <a:srgbClr val="C00000"/>
                </a:solidFill>
                <a:latin typeface="Algerian" pitchFamily="82" charset="0"/>
              </a:rPr>
              <a:t>CLASS:  EVENING B</a:t>
            </a:r>
          </a:p>
          <a:p>
            <a:r>
              <a:rPr lang="en-US" sz="2400" b="1" dirty="0" smtClean="0">
                <a:solidFill>
                  <a:srgbClr val="C00000"/>
                </a:solidFill>
                <a:latin typeface="Algerian" pitchFamily="82" charset="0"/>
              </a:rPr>
              <a:t>ENROLLMENT NO.: 00580301720</a:t>
            </a:r>
          </a:p>
          <a:p>
            <a:r>
              <a:rPr lang="en-US" sz="2400" b="1" dirty="0" smtClean="0">
                <a:solidFill>
                  <a:srgbClr val="C00000"/>
                </a:solidFill>
                <a:latin typeface="Algerian" pitchFamily="82" charset="0"/>
              </a:rPr>
              <a:t>MENTOR: </a:t>
            </a:r>
            <a:r>
              <a:rPr lang="en-US" sz="2400" b="1" dirty="0" smtClean="0">
                <a:solidFill>
                  <a:srgbClr val="C00000"/>
                </a:solidFill>
                <a:latin typeface="Algerian" pitchFamily="82" charset="0"/>
              </a:rPr>
              <a:t>SUNAKSHI MAHAJAN</a:t>
            </a:r>
            <a:endParaRPr lang="en-US" sz="2400" b="1" dirty="0" smtClean="0">
              <a:solidFill>
                <a:srgbClr val="C00000"/>
              </a:solidFill>
              <a:latin typeface="Algerian" pitchFamily="82" charset="0"/>
            </a:endParaRPr>
          </a:p>
        </p:txBody>
      </p:sp>
      <p:pic>
        <p:nvPicPr>
          <p:cNvPr id="3076" name="Picture 4" descr="The Beginner Investor's Roadmap: How to Start Investing in 20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0469" y="2671177"/>
            <a:ext cx="6383600" cy="1819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264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41" y="0"/>
            <a:ext cx="9144001" cy="69271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763688" y="404664"/>
            <a:ext cx="6840760" cy="707886"/>
          </a:xfrm>
          <a:prstGeom prst="rect">
            <a:avLst/>
          </a:prstGeom>
          <a:noFill/>
        </p:spPr>
        <p:txBody>
          <a:bodyPr wrap="square" rtlCol="0">
            <a:spAutoFit/>
          </a:bodyPr>
          <a:lstStyle/>
          <a:p>
            <a:pPr algn="ctr"/>
            <a:r>
              <a:rPr lang="en-IN" sz="4000" b="1" dirty="0" smtClean="0">
                <a:latin typeface="Bodoni MT Black" pitchFamily="18" charset="0"/>
              </a:rPr>
              <a:t>INTRODUCTION</a:t>
            </a:r>
            <a:endParaRPr lang="en-IN" sz="4000" b="1" dirty="0">
              <a:latin typeface="Bodoni MT Black" pitchFamily="18" charset="0"/>
            </a:endParaRPr>
          </a:p>
        </p:txBody>
      </p:sp>
      <p:sp>
        <p:nvSpPr>
          <p:cNvPr id="3" name="TextBox 2"/>
          <p:cNvSpPr txBox="1"/>
          <p:nvPr/>
        </p:nvSpPr>
        <p:spPr>
          <a:xfrm>
            <a:off x="1331640" y="1062894"/>
            <a:ext cx="7272808" cy="4031873"/>
          </a:xfrm>
          <a:prstGeom prst="rect">
            <a:avLst/>
          </a:prstGeom>
          <a:noFill/>
        </p:spPr>
        <p:txBody>
          <a:bodyPr wrap="square" rtlCol="0">
            <a:spAutoFit/>
          </a:bodyPr>
          <a:lstStyle/>
          <a:p>
            <a:pPr marL="285750" indent="-285750">
              <a:buFontTx/>
              <a:buChar char="-"/>
            </a:pPr>
            <a:endParaRPr lang="en-US" sz="1600" dirty="0" smtClean="0"/>
          </a:p>
          <a:p>
            <a:pPr marL="285750" indent="-285750" algn="just">
              <a:buFontTx/>
              <a:buChar char="-"/>
            </a:pPr>
            <a:endParaRPr lang="en-US" sz="1600" dirty="0"/>
          </a:p>
          <a:p>
            <a:pPr marL="285750" indent="-285750" algn="just">
              <a:buFontTx/>
              <a:buChar char="-"/>
            </a:pPr>
            <a:r>
              <a:rPr lang="en-US" sz="1600" dirty="0" smtClean="0"/>
              <a:t>Portfolio </a:t>
            </a:r>
            <a:r>
              <a:rPr lang="en-US" sz="1600" dirty="0"/>
              <a:t>analysis is a technique used to evaluate the performance of an investment portfolio</a:t>
            </a:r>
            <a:r>
              <a:rPr lang="en-US" sz="1600" dirty="0" smtClean="0"/>
              <a:t>.</a:t>
            </a:r>
          </a:p>
          <a:p>
            <a:pPr marL="285750" indent="-285750" algn="just">
              <a:buFontTx/>
              <a:buChar char="-"/>
            </a:pPr>
            <a:r>
              <a:rPr lang="en-US" sz="1600" dirty="0" smtClean="0"/>
              <a:t>- </a:t>
            </a:r>
            <a:r>
              <a:rPr lang="en-US" sz="1600" dirty="0"/>
              <a:t>It involves examining the holdings of the portfolio, assessing their risk and return characteristics, and determining how they fit together to achieve the investor's goals</a:t>
            </a:r>
            <a:r>
              <a:rPr lang="en-US" sz="1600" dirty="0" smtClean="0"/>
              <a:t>.</a:t>
            </a:r>
          </a:p>
          <a:p>
            <a:pPr marL="285750" indent="-285750" algn="just">
              <a:buFontTx/>
              <a:buChar char="-"/>
            </a:pPr>
            <a:r>
              <a:rPr lang="en-US" sz="1600" dirty="0" smtClean="0"/>
              <a:t>- </a:t>
            </a:r>
            <a:r>
              <a:rPr lang="en-US" sz="1600" dirty="0"/>
              <a:t>Investing choices refer to the different types of investments that are available to investors, such as stocks, bonds, mutual funds, and real estate</a:t>
            </a:r>
            <a:r>
              <a:rPr lang="en-US" sz="1600" dirty="0" smtClean="0"/>
              <a:t>.</a:t>
            </a:r>
          </a:p>
          <a:p>
            <a:pPr marL="285750" indent="-285750" algn="just">
              <a:buFontTx/>
              <a:buChar char="-"/>
            </a:pPr>
            <a:r>
              <a:rPr lang="en-US" sz="1600" dirty="0" smtClean="0"/>
              <a:t>- </a:t>
            </a:r>
            <a:r>
              <a:rPr lang="en-US" sz="1600" dirty="0"/>
              <a:t>The importance of portfolio analysis and investing choices lies in their ability to help investors make informed decisions about their investments, manage risk, and achieve their financial goals</a:t>
            </a:r>
            <a:r>
              <a:rPr lang="en-US" sz="1600" dirty="0" smtClean="0"/>
              <a:t>.</a:t>
            </a:r>
          </a:p>
          <a:p>
            <a:pPr marL="285750" indent="-285750" algn="just">
              <a:buFontTx/>
              <a:buChar char="-"/>
            </a:pPr>
            <a:r>
              <a:rPr lang="en-US" sz="1600" dirty="0" smtClean="0"/>
              <a:t>- </a:t>
            </a:r>
            <a:r>
              <a:rPr lang="en-US" sz="1600" dirty="0"/>
              <a:t>This project aims to study the importance of portfolio analysis and investing choices in Delhi NCR, specifically by examining the investment behavior of individual investors in the region and assessing the effectiveness of different portfolio analysis techniques in helping them achieve their investment objectives.</a:t>
            </a:r>
            <a:endParaRPr lang="en-US" sz="1600" dirty="0" smtClean="0"/>
          </a:p>
        </p:txBody>
      </p:sp>
    </p:spTree>
    <p:extLst>
      <p:ext uri="{BB962C8B-B14F-4D97-AF65-F5344CB8AC3E}">
        <p14:creationId xmlns:p14="http://schemas.microsoft.com/office/powerpoint/2010/main" val="871869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35312" y="512093"/>
            <a:ext cx="6557168" cy="707886"/>
          </a:xfrm>
          <a:prstGeom prst="rect">
            <a:avLst/>
          </a:prstGeom>
        </p:spPr>
        <p:txBody>
          <a:bodyPr wrap="square">
            <a:spAutoFit/>
          </a:bodyPr>
          <a:lstStyle/>
          <a:p>
            <a:pPr algn="ctr"/>
            <a:r>
              <a:rPr lang="en-US" sz="4000" b="1" dirty="0" smtClean="0">
                <a:latin typeface="Bodoni MT Black" pitchFamily="18" charset="0"/>
              </a:rPr>
              <a:t>LITERATURE REVIEW</a:t>
            </a:r>
          </a:p>
        </p:txBody>
      </p:sp>
      <p:sp>
        <p:nvSpPr>
          <p:cNvPr id="5" name="TextBox 4"/>
          <p:cNvSpPr txBox="1"/>
          <p:nvPr/>
        </p:nvSpPr>
        <p:spPr>
          <a:xfrm>
            <a:off x="1243062" y="1219979"/>
            <a:ext cx="7632848" cy="5878532"/>
          </a:xfrm>
          <a:prstGeom prst="rect">
            <a:avLst/>
          </a:prstGeom>
          <a:noFill/>
        </p:spPr>
        <p:txBody>
          <a:bodyPr wrap="square" rtlCol="0">
            <a:spAutoFit/>
          </a:bodyPr>
          <a:lstStyle/>
          <a:p>
            <a:pPr marL="228600" indent="-228600" algn="just">
              <a:buAutoNum type="arabicPeriod"/>
            </a:pPr>
            <a:r>
              <a:rPr lang="en-IN" sz="1400" b="1" dirty="0" smtClean="0"/>
              <a:t>Brown </a:t>
            </a:r>
            <a:r>
              <a:rPr lang="en-IN" sz="1400" b="1" dirty="0"/>
              <a:t>et al(2022)-</a:t>
            </a:r>
            <a:r>
              <a:rPr lang="en-IN" sz="1400" dirty="0"/>
              <a:t> This study looks at how employees' ability to choose from a variety of investments under defined contribution plans affects their portfolio decisions. First, we demonstrate that aggregate participant portfolio allocations across various asset classes are significantly influenced by the proportion of investment options available in a given asset class (i.e., company stock, stocks, fixed income, and balanced funds). Second, we provide evidence that high-cost actively managed equities funds, rather than equity index funds with lower costs, make up the great majority of new funds added to 401(k) plans. Third, average portfolio expenses rise and average portfolio performance is therefore decreased as the average share of assets invested in low-cost stock index funds decreases as the number of options increases</a:t>
            </a:r>
            <a:r>
              <a:rPr lang="en-IN" sz="1400" dirty="0" smtClean="0"/>
              <a:t>.</a:t>
            </a:r>
          </a:p>
          <a:p>
            <a:pPr marL="228600" indent="-228600" algn="just">
              <a:buAutoNum type="arabicPeriod"/>
            </a:pPr>
            <a:r>
              <a:rPr lang="en-IN" sz="1400" b="1" dirty="0" err="1" smtClean="0"/>
              <a:t>Pavolova</a:t>
            </a:r>
            <a:r>
              <a:rPr lang="en-IN" sz="1400" b="1" dirty="0" smtClean="0"/>
              <a:t> </a:t>
            </a:r>
            <a:r>
              <a:rPr lang="en-IN" sz="1400" b="1" dirty="0"/>
              <a:t>et al(2021)-</a:t>
            </a:r>
            <a:r>
              <a:rPr lang="en-IN" sz="1400" dirty="0"/>
              <a:t> When investing money, everyone's primary objective is to make a profit. The research in this work are intended to study various models and help investors reach their aims of maximising investment and minimising risk. A systematic, long-term practise called investing involves the investor giving up some of his free money in exchange for the potential to enhance that money's worth and earn a return. Only when certain guidelines are followed can investing be </a:t>
            </a:r>
            <a:r>
              <a:rPr lang="en-IN" sz="1400" dirty="0" smtClean="0"/>
              <a:t>beneficial</a:t>
            </a:r>
          </a:p>
          <a:p>
            <a:pPr marL="228600" indent="-228600" algn="just">
              <a:buFontTx/>
              <a:buAutoNum type="arabicPeriod"/>
            </a:pPr>
            <a:r>
              <a:rPr lang="en-IN" sz="1400" b="1" dirty="0" err="1" smtClean="0"/>
              <a:t>Brandstetter</a:t>
            </a:r>
            <a:r>
              <a:rPr lang="en-IN" sz="1400" b="1" dirty="0" smtClean="0"/>
              <a:t> </a:t>
            </a:r>
            <a:r>
              <a:rPr lang="en-IN" sz="1400" b="1" dirty="0"/>
              <a:t>and </a:t>
            </a:r>
            <a:r>
              <a:rPr lang="en-IN" sz="1400" b="1" dirty="0" err="1"/>
              <a:t>Lehner</a:t>
            </a:r>
            <a:r>
              <a:rPr lang="en-IN" sz="1400" b="1" dirty="0"/>
              <a:t>(2020):- </a:t>
            </a:r>
            <a:r>
              <a:rPr lang="en-IN" sz="1400" dirty="0"/>
              <a:t>impact on society and the environment Both investing as a practise and as an idea have gained popularity on a genuinely global scale. However, aside from sporadic instances of some specialised kinds, such social-impact bonds, little is understood about the subject and the intricate interactions between actors, tools, and rules. The justifications of the various players in the area and the evaluation standards for some of its instruments haven't been thoroughly examined yet</a:t>
            </a:r>
            <a:r>
              <a:rPr lang="en-IN" sz="1400" dirty="0" smtClean="0"/>
              <a:t>.</a:t>
            </a:r>
            <a:r>
              <a:rPr lang="en-IN" sz="1400" b="1" dirty="0"/>
              <a:t> 10. </a:t>
            </a:r>
            <a:r>
              <a:rPr lang="en-IN" sz="1400" b="1" dirty="0" err="1"/>
              <a:t>Jappelli</a:t>
            </a:r>
            <a:r>
              <a:rPr lang="en-IN" sz="1400" b="1" dirty="0"/>
              <a:t> and </a:t>
            </a:r>
            <a:r>
              <a:rPr lang="en-IN" sz="1400" b="1" dirty="0" err="1"/>
              <a:t>Padula</a:t>
            </a:r>
            <a:r>
              <a:rPr lang="en-IN" sz="1400" b="1" dirty="0"/>
              <a:t>(2020):-</a:t>
            </a:r>
            <a:r>
              <a:rPr lang="en-IN" sz="1400" dirty="0"/>
              <a:t> We provide a consumer investment in financial literacy </a:t>
            </a:r>
            <a:r>
              <a:rPr lang="en-IN" sz="1400" dirty="0" err="1"/>
              <a:t>intertemporal</a:t>
            </a:r>
            <a:r>
              <a:rPr lang="en-IN" sz="1400" dirty="0"/>
              <a:t> consumption model. Because they may raise the returns on their wealth thanks to their stock of financial literacy, consumers gain from such investments. Since literacy costs money and deteriorates over time, The methodology calculates the best investment in literacy based on current spending. The model demonstrates a positive life-cycle correlation between financial literacy and wealth that is determined jointly.</a:t>
            </a:r>
          </a:p>
          <a:p>
            <a:pPr marL="228600" indent="-228600">
              <a:buAutoNum type="arabicPeriod"/>
            </a:pPr>
            <a:endParaRPr lang="en-IN" sz="1200" dirty="0"/>
          </a:p>
        </p:txBody>
      </p:sp>
    </p:spTree>
    <p:extLst>
      <p:ext uri="{BB962C8B-B14F-4D97-AF65-F5344CB8AC3E}">
        <p14:creationId xmlns:p14="http://schemas.microsoft.com/office/powerpoint/2010/main" val="3595510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493936" y="836712"/>
            <a:ext cx="7200800" cy="4770537"/>
          </a:xfrm>
          <a:prstGeom prst="rect">
            <a:avLst/>
          </a:prstGeom>
          <a:noFill/>
        </p:spPr>
        <p:txBody>
          <a:bodyPr wrap="square" rtlCol="0">
            <a:spAutoFit/>
          </a:bodyPr>
          <a:lstStyle/>
          <a:p>
            <a:pPr algn="just"/>
            <a:r>
              <a:rPr lang="en-IN" sz="1600" b="1" dirty="0"/>
              <a:t>4</a:t>
            </a:r>
            <a:r>
              <a:rPr lang="en-IN" sz="1600" b="1" dirty="0" smtClean="0"/>
              <a:t>. </a:t>
            </a:r>
            <a:r>
              <a:rPr lang="en-IN" sz="1600" b="1" dirty="0" err="1"/>
              <a:t>Guiso</a:t>
            </a:r>
            <a:r>
              <a:rPr lang="en-IN" sz="1600" b="1" dirty="0"/>
              <a:t> and </a:t>
            </a:r>
            <a:r>
              <a:rPr lang="en-IN" sz="1600" b="1" dirty="0" err="1"/>
              <a:t>Jappeli</a:t>
            </a:r>
            <a:r>
              <a:rPr lang="en-IN" sz="1600" b="1" dirty="0"/>
              <a:t>(2019):-</a:t>
            </a:r>
            <a:r>
              <a:rPr lang="en-IN" sz="1600" dirty="0"/>
              <a:t> In this essay, we emphasise the lack of financial knowledge as one possible explanation for the lack of portfolio diversification. We make use of the 2007 </a:t>
            </a:r>
            <a:r>
              <a:rPr lang="en-IN" sz="1600" dirty="0" err="1"/>
              <a:t>Unicredit</a:t>
            </a:r>
            <a:r>
              <a:rPr lang="en-IN" sz="1600" dirty="0"/>
              <a:t> Customers' Survey, which contains data on investor demographics, financial literacy, and markers of portfolio choice. We first provide test-based measures of financial literacy and quantify the degree of under-diversification in portfolios</a:t>
            </a:r>
            <a:r>
              <a:rPr lang="en-IN" sz="1600" dirty="0" smtClean="0"/>
              <a:t>.</a:t>
            </a:r>
          </a:p>
          <a:p>
            <a:pPr algn="just"/>
            <a:r>
              <a:rPr lang="en-IN" sz="1600" b="1" dirty="0" smtClean="0"/>
              <a:t>5. </a:t>
            </a:r>
            <a:r>
              <a:rPr lang="en-IN" sz="1600" b="1" dirty="0" err="1"/>
              <a:t>Aren</a:t>
            </a:r>
            <a:r>
              <a:rPr lang="en-IN" sz="1600" b="1" dirty="0"/>
              <a:t> and </a:t>
            </a:r>
            <a:r>
              <a:rPr lang="en-IN" sz="1600" b="1" dirty="0" err="1"/>
              <a:t>hamamci</a:t>
            </a:r>
            <a:r>
              <a:rPr lang="en-IN" sz="1600" b="1" dirty="0"/>
              <a:t>(2019)-</a:t>
            </a:r>
            <a:r>
              <a:rPr lang="en-IN" sz="1600" dirty="0"/>
              <a:t> This study intends to evaluate how risk aversion, risky investment intention, and investment choices are affected by subjective and financial literacy, the big five personality traits, and emotions (fear, anger, hope, and sadness). These three variables—risk aversion, desire to make hazardous investments, and investment preferences—and their interactions were also looked </a:t>
            </a:r>
            <a:r>
              <a:rPr lang="en-IN" sz="1600" dirty="0" smtClean="0"/>
              <a:t>at.</a:t>
            </a:r>
          </a:p>
          <a:p>
            <a:pPr algn="just"/>
            <a:r>
              <a:rPr lang="en-IN" sz="1600" b="1" dirty="0" smtClean="0"/>
              <a:t>6. </a:t>
            </a:r>
            <a:r>
              <a:rPr lang="en-IN" sz="1600" b="1" dirty="0" err="1" smtClean="0"/>
              <a:t>Alexandrovich</a:t>
            </a:r>
            <a:r>
              <a:rPr lang="en-IN" sz="1600" b="1" dirty="0" smtClean="0"/>
              <a:t> </a:t>
            </a:r>
            <a:r>
              <a:rPr lang="en-IN" sz="1600" b="1" dirty="0"/>
              <a:t>et al(2019)-</a:t>
            </a:r>
            <a:r>
              <a:rPr lang="en-IN" sz="1600" dirty="0"/>
              <a:t> In order to solve the issues of making portfolio decisions, the use of an econometric model with a discrete dependent variable is examined. A diagonal portfolio investment model is built using the Wiener regression as a foundation, and it was through its calculations that the interpretation of the yield-risk relationship could be made clear. As a result, the yield of any financial asset traded on the market is influenced by the market's investment potential. In conclusion, the predicted degree of profitability will deviate more from the amount promised by the market's investment potential the higher the risk</a:t>
            </a:r>
            <a:endParaRPr lang="en-IN" sz="1600" dirty="0"/>
          </a:p>
        </p:txBody>
      </p:sp>
    </p:spTree>
    <p:extLst>
      <p:ext uri="{BB962C8B-B14F-4D97-AF65-F5344CB8AC3E}">
        <p14:creationId xmlns:p14="http://schemas.microsoft.com/office/powerpoint/2010/main" val="69439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404664"/>
            <a:ext cx="7772400" cy="1470025"/>
          </a:xfrm>
        </p:spPr>
        <p:txBody>
          <a:bodyPr/>
          <a:lstStyle/>
          <a:p>
            <a:r>
              <a:rPr lang="en-IN" dirty="0"/>
              <a:t>COMPANY PROFILE</a:t>
            </a:r>
          </a:p>
        </p:txBody>
      </p:sp>
      <p:sp>
        <p:nvSpPr>
          <p:cNvPr id="3" name="Subtitle 2"/>
          <p:cNvSpPr>
            <a:spLocks noGrp="1"/>
          </p:cNvSpPr>
          <p:nvPr>
            <p:ph type="subTitle" idx="1"/>
          </p:nvPr>
        </p:nvSpPr>
        <p:spPr/>
        <p:txBody>
          <a:bodyPr/>
          <a:lstStyle/>
          <a:p>
            <a:endParaRPr lang="en-IN"/>
          </a:p>
        </p:txBody>
      </p:sp>
      <p:pic>
        <p:nvPicPr>
          <p:cNvPr id="4"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189285" y="169414"/>
            <a:ext cx="7668344" cy="707886"/>
          </a:xfrm>
          <a:prstGeom prst="rect">
            <a:avLst/>
          </a:prstGeom>
          <a:noFill/>
        </p:spPr>
        <p:txBody>
          <a:bodyPr wrap="square" rtlCol="0">
            <a:spAutoFit/>
          </a:bodyPr>
          <a:lstStyle/>
          <a:p>
            <a:pPr algn="ctr"/>
            <a:r>
              <a:rPr lang="en-IN" sz="4000" b="1" dirty="0">
                <a:latin typeface="Bodoni MT Black" pitchFamily="18" charset="0"/>
              </a:rPr>
              <a:t>NEED OF </a:t>
            </a:r>
            <a:r>
              <a:rPr lang="en-IN" sz="4000" b="1" dirty="0" smtClean="0">
                <a:latin typeface="Bodoni MT Black" pitchFamily="18" charset="0"/>
              </a:rPr>
              <a:t>THE</a:t>
            </a:r>
            <a:r>
              <a:rPr lang="en-IN" sz="4000" b="1" dirty="0">
                <a:latin typeface="Bodoni MT Black" pitchFamily="18" charset="0"/>
              </a:rPr>
              <a:t> </a:t>
            </a:r>
            <a:r>
              <a:rPr lang="en-IN" sz="4000" b="1" dirty="0" smtClean="0">
                <a:latin typeface="Bodoni MT Black" pitchFamily="18" charset="0"/>
              </a:rPr>
              <a:t>STUDY</a:t>
            </a:r>
            <a:endParaRPr lang="en-IN" sz="4000" b="1" dirty="0">
              <a:latin typeface="Bodoni MT Black" pitchFamily="18" charset="0"/>
            </a:endParaRPr>
          </a:p>
        </p:txBody>
      </p:sp>
      <p:sp>
        <p:nvSpPr>
          <p:cNvPr id="7" name="TextBox 6"/>
          <p:cNvSpPr txBox="1"/>
          <p:nvPr/>
        </p:nvSpPr>
        <p:spPr>
          <a:xfrm>
            <a:off x="1459060" y="896746"/>
            <a:ext cx="7577435" cy="5700606"/>
          </a:xfrm>
          <a:prstGeom prst="rect">
            <a:avLst/>
          </a:prstGeom>
          <a:noFill/>
        </p:spPr>
        <p:txBody>
          <a:bodyPr wrap="square" rtlCol="0">
            <a:spAutoFit/>
          </a:bodyPr>
          <a:lstStyle/>
          <a:p>
            <a:pPr algn="just"/>
            <a:r>
              <a:rPr lang="en-US" sz="2000" dirty="0"/>
              <a:t> </a:t>
            </a:r>
            <a:r>
              <a:rPr lang="en-US" sz="1600" dirty="0" smtClean="0"/>
              <a:t>“</a:t>
            </a:r>
            <a:r>
              <a:rPr lang="en-IN" sz="1600" dirty="0"/>
              <a:t>To study the importance of portfolio analysis and investing choices in Delhi NCR</a:t>
            </a:r>
            <a:r>
              <a:rPr lang="en-US" sz="1600" dirty="0"/>
              <a:t>”</a:t>
            </a:r>
            <a:endParaRPr lang="en-IN" sz="1600" dirty="0"/>
          </a:p>
          <a:p>
            <a:pPr algn="just"/>
            <a:r>
              <a:rPr lang="en-US" sz="1600" dirty="0"/>
              <a:t>The title of my project is “</a:t>
            </a:r>
            <a:r>
              <a:rPr lang="en-IN" sz="1600" dirty="0"/>
              <a:t>To study the importance of portfolio analysis and investing choices in Delhi NCR</a:t>
            </a:r>
            <a:r>
              <a:rPr lang="en-US" sz="1600" dirty="0"/>
              <a:t>”. The purpose of this research paper is to explore the process of evaluating a portfolio and making investment decisions. The paper will examine the importance of defining investment goals, conducting regular portfolio reviews, diversifying investments, conducting fundamental and technical analysis, and considering macroeconomic factors in the investment decision-making process. The paper will also highlight the benefits of taking a systematic approach to evaluating a portfolio and making investment decisions, including maximizing returns, managing risk, and achieving investment goals.</a:t>
            </a:r>
            <a:endParaRPr lang="en-IN" sz="1600" dirty="0"/>
          </a:p>
          <a:p>
            <a:pPr algn="just"/>
            <a:r>
              <a:rPr lang="en-US" sz="1600" dirty="0"/>
              <a:t> </a:t>
            </a:r>
            <a:endParaRPr lang="en-IN" sz="1600" dirty="0"/>
          </a:p>
          <a:p>
            <a:pPr algn="just"/>
            <a:r>
              <a:rPr lang="en-US" sz="1600" dirty="0"/>
              <a:t>The paper will draw on existing research and literature on portfolio evaluation and investment decision-making, including academic studies, industry reports, and expert opinions. The research will also include practical examples and case studies to illustrate the key concepts and strategies for evaluating a portfolio and making investment decisions.</a:t>
            </a:r>
            <a:endParaRPr lang="en-IN" sz="1600" dirty="0"/>
          </a:p>
          <a:p>
            <a:pPr algn="just"/>
            <a:r>
              <a:rPr lang="en-US" sz="1600" dirty="0"/>
              <a:t> </a:t>
            </a:r>
            <a:endParaRPr lang="en-IN" sz="1600" dirty="0"/>
          </a:p>
          <a:p>
            <a:pPr algn="just"/>
            <a:r>
              <a:rPr lang="en-US" sz="1600" dirty="0"/>
              <a:t>The research paper is intended for investors, financial professionals, and anyone interested in learning more about portfolio evaluation and investment decision-making. The paper aims to provide a comprehensive overview of the investment decision-making process, highlighting best practices and strategies for maximizing returns and managing risk in a dynamic and ever-changing market environment</a:t>
            </a:r>
            <a:endParaRPr lang="en-IN" sz="1600" dirty="0"/>
          </a:p>
        </p:txBody>
      </p:sp>
    </p:spTree>
    <p:extLst>
      <p:ext uri="{BB962C8B-B14F-4D97-AF65-F5344CB8AC3E}">
        <p14:creationId xmlns:p14="http://schemas.microsoft.com/office/powerpoint/2010/main" val="14267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55576" y="359162"/>
            <a:ext cx="9001000" cy="707886"/>
          </a:xfrm>
          <a:prstGeom prst="rect">
            <a:avLst/>
          </a:prstGeom>
          <a:noFill/>
        </p:spPr>
        <p:txBody>
          <a:bodyPr wrap="square" rtlCol="0">
            <a:spAutoFit/>
          </a:bodyPr>
          <a:lstStyle/>
          <a:p>
            <a:pPr algn="ctr"/>
            <a:r>
              <a:rPr lang="en-IN" sz="4000" b="1" dirty="0" smtClean="0">
                <a:latin typeface="Bodoni MT Black" pitchFamily="18" charset="0"/>
              </a:rPr>
              <a:t>RESEARCH METHODOLOGY</a:t>
            </a:r>
            <a:endParaRPr lang="en-IN" sz="4000" b="1" dirty="0">
              <a:latin typeface="Bodoni MT Black" pitchFamily="18" charset="0"/>
            </a:endParaRPr>
          </a:p>
        </p:txBody>
      </p:sp>
      <p:sp>
        <p:nvSpPr>
          <p:cNvPr id="6" name="TextBox 5"/>
          <p:cNvSpPr txBox="1"/>
          <p:nvPr/>
        </p:nvSpPr>
        <p:spPr>
          <a:xfrm>
            <a:off x="1281379" y="1086738"/>
            <a:ext cx="7846142" cy="5262979"/>
          </a:xfrm>
          <a:prstGeom prst="rect">
            <a:avLst/>
          </a:prstGeom>
          <a:noFill/>
        </p:spPr>
        <p:txBody>
          <a:bodyPr wrap="square" rtlCol="0">
            <a:spAutoFit/>
          </a:bodyPr>
          <a:lstStyle/>
          <a:p>
            <a:r>
              <a:rPr lang="en-US" sz="1600" b="1" dirty="0" smtClean="0"/>
              <a:t>1</a:t>
            </a:r>
            <a:r>
              <a:rPr lang="en-US" sz="1600" b="1" dirty="0"/>
              <a:t>. Objectives</a:t>
            </a:r>
            <a:endParaRPr lang="en-IN" sz="1600" dirty="0"/>
          </a:p>
          <a:p>
            <a:pPr lvl="0"/>
            <a:r>
              <a:rPr lang="en-US" sz="1600" dirty="0"/>
              <a:t>To explore the investment patterns of individuals in Delhi NCR.</a:t>
            </a:r>
            <a:endParaRPr lang="en-IN" sz="1600" dirty="0"/>
          </a:p>
          <a:p>
            <a:pPr lvl="0"/>
            <a:r>
              <a:rPr lang="en-US" sz="1600" dirty="0"/>
              <a:t>To study the portfolio evaluation and related investment decisions.</a:t>
            </a:r>
            <a:endParaRPr lang="en-IN" sz="1600" dirty="0"/>
          </a:p>
          <a:p>
            <a:r>
              <a:rPr lang="en-US" sz="1600" b="1" dirty="0"/>
              <a:t>2. Research Design</a:t>
            </a:r>
            <a:endParaRPr lang="en-IN" sz="1600" dirty="0"/>
          </a:p>
          <a:p>
            <a:r>
              <a:rPr lang="en-US" sz="1600" dirty="0"/>
              <a:t>The study is solely descriptive in nature, with the goal of understanding how to evaluate portfolio and make investment decisions. This is a purely theoretical study approach in which the researcher gets data, analyses it, prepares it, and then delivers it in an understandable manner.</a:t>
            </a:r>
            <a:endParaRPr lang="en-IN" sz="1600" dirty="0"/>
          </a:p>
          <a:p>
            <a:r>
              <a:rPr lang="en-US" sz="1600" b="1" dirty="0"/>
              <a:t>3. Sources of data </a:t>
            </a:r>
            <a:endParaRPr lang="en-IN" sz="1600" dirty="0"/>
          </a:p>
          <a:p>
            <a:r>
              <a:rPr lang="en-US" sz="1600" dirty="0"/>
              <a:t>The primary data for this study will be collected through semi-structured interviews with investment professionals and individuals with experience in managing investment portfolios. The interviews will be conducted using a predetermined set of open-ended questions designed to gather insights into the process of evaluating a portfolio and making investment decisions. </a:t>
            </a:r>
            <a:endParaRPr lang="en-IN" sz="1600" dirty="0"/>
          </a:p>
          <a:p>
            <a:r>
              <a:rPr lang="en-US" sz="1600" b="1" dirty="0"/>
              <a:t>4. Sample of study</a:t>
            </a:r>
            <a:endParaRPr lang="en-IN" sz="1600" dirty="0"/>
          </a:p>
          <a:p>
            <a:r>
              <a:rPr lang="en-US" sz="1600" dirty="0"/>
              <a:t>I am taking sample of investment professionals and individuals with experience in managing investment portfolios in Delhi NCR.</a:t>
            </a:r>
            <a:endParaRPr lang="en-IN" sz="1600" dirty="0"/>
          </a:p>
          <a:p>
            <a:r>
              <a:rPr lang="en-US" sz="1600" b="1" dirty="0"/>
              <a:t>5. Time period of study </a:t>
            </a:r>
            <a:endParaRPr lang="en-IN" sz="1600" dirty="0"/>
          </a:p>
          <a:p>
            <a:r>
              <a:rPr lang="en-US" sz="1600" dirty="0"/>
              <a:t>The research is conducted between the time period of February to June. </a:t>
            </a:r>
            <a:endParaRPr lang="en-IN" sz="1600" dirty="0"/>
          </a:p>
          <a:p>
            <a:r>
              <a:rPr lang="en-US" sz="1600" b="1" dirty="0"/>
              <a:t>6. Tools and Techniques</a:t>
            </a:r>
            <a:endParaRPr lang="en-IN" sz="1600" dirty="0"/>
          </a:p>
          <a:p>
            <a:r>
              <a:rPr lang="en-IN" sz="1600" dirty="0"/>
              <a:t>Descriptive statistics tool will be employed.</a:t>
            </a:r>
            <a:endParaRPr lang="en-IN" sz="1600" dirty="0"/>
          </a:p>
        </p:txBody>
      </p:sp>
    </p:spTree>
    <p:extLst>
      <p:ext uri="{BB962C8B-B14F-4D97-AF65-F5344CB8AC3E}">
        <p14:creationId xmlns:p14="http://schemas.microsoft.com/office/powerpoint/2010/main" val="1572929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5"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09173" y="409277"/>
            <a:ext cx="7734827" cy="707886"/>
          </a:xfrm>
          <a:prstGeom prst="rect">
            <a:avLst/>
          </a:prstGeom>
          <a:noFill/>
        </p:spPr>
        <p:txBody>
          <a:bodyPr wrap="square" rtlCol="0">
            <a:spAutoFit/>
          </a:bodyPr>
          <a:lstStyle/>
          <a:p>
            <a:pPr algn="ctr"/>
            <a:r>
              <a:rPr lang="en-IN" sz="4000" b="1" dirty="0">
                <a:latin typeface="Bodoni MT Black" pitchFamily="18" charset="0"/>
              </a:rPr>
              <a:t>ANALYSIS</a:t>
            </a:r>
            <a:endParaRPr lang="en-IN" sz="4000" b="1" dirty="0">
              <a:latin typeface="Bodoni MT Black" pitchFamily="18" charset="0"/>
            </a:endParaRPr>
          </a:p>
        </p:txBody>
      </p:sp>
      <p:sp>
        <p:nvSpPr>
          <p:cNvPr id="7" name="TextBox 6"/>
          <p:cNvSpPr txBox="1"/>
          <p:nvPr/>
        </p:nvSpPr>
        <p:spPr>
          <a:xfrm>
            <a:off x="1392694" y="1306979"/>
            <a:ext cx="7416824" cy="3293209"/>
          </a:xfrm>
          <a:prstGeom prst="rect">
            <a:avLst/>
          </a:prstGeom>
          <a:noFill/>
        </p:spPr>
        <p:txBody>
          <a:bodyPr wrap="square" rtlCol="0">
            <a:spAutoFit/>
          </a:bodyPr>
          <a:lstStyle/>
          <a:p>
            <a:r>
              <a:rPr lang="en-US" sz="2000" b="1" dirty="0" smtClean="0"/>
              <a:t>Q1.</a:t>
            </a:r>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endParaRPr lang="en-IN" sz="2000" dirty="0"/>
          </a:p>
          <a:p>
            <a:r>
              <a:rPr lang="en-US" sz="1600" b="1" dirty="0"/>
              <a:t>Interpretation: </a:t>
            </a:r>
            <a:r>
              <a:rPr lang="en-US" sz="1600" dirty="0"/>
              <a:t>As per the above data, majority of respondents are just beginners as they have just started investing and followed by 29.9% intermediate, 10.3% are modern and remaining 2.8% are expert in concepts of portfolio management and investing.</a:t>
            </a:r>
            <a:endParaRPr lang="en-IN" sz="1600" dirty="0"/>
          </a:p>
        </p:txBody>
      </p:sp>
      <p:pic>
        <p:nvPicPr>
          <p:cNvPr id="8" name="Picture 7"/>
          <p:cNvPicPr/>
          <p:nvPr/>
        </p:nvPicPr>
        <p:blipFill>
          <a:blip r:embed="rId3"/>
          <a:stretch>
            <a:fillRect/>
          </a:stretch>
        </p:blipFill>
        <p:spPr>
          <a:xfrm>
            <a:off x="1979712" y="1306979"/>
            <a:ext cx="5869940" cy="2338045"/>
          </a:xfrm>
          <a:prstGeom prst="rect">
            <a:avLst/>
          </a:prstGeom>
        </p:spPr>
      </p:pic>
    </p:spTree>
    <p:extLst>
      <p:ext uri="{BB962C8B-B14F-4D97-AF65-F5344CB8AC3E}">
        <p14:creationId xmlns:p14="http://schemas.microsoft.com/office/powerpoint/2010/main" val="1147031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547664" y="404664"/>
            <a:ext cx="7344816" cy="6124754"/>
          </a:xfrm>
          <a:prstGeom prst="rect">
            <a:avLst/>
          </a:prstGeom>
          <a:noFill/>
        </p:spPr>
        <p:txBody>
          <a:bodyPr wrap="square" rtlCol="0">
            <a:spAutoFit/>
          </a:bodyPr>
          <a:lstStyle/>
          <a:p>
            <a:r>
              <a:rPr lang="en-US" sz="1400" b="1" dirty="0" smtClean="0"/>
              <a:t>Q2.</a:t>
            </a:r>
          </a:p>
          <a:p>
            <a:endParaRPr lang="en-US" b="1" dirty="0"/>
          </a:p>
          <a:p>
            <a:endParaRPr lang="en-US" b="1" dirty="0" smtClean="0"/>
          </a:p>
          <a:p>
            <a:endParaRPr lang="en-US" b="1" dirty="0"/>
          </a:p>
          <a:p>
            <a:endParaRPr lang="en-US" b="1" dirty="0" smtClean="0"/>
          </a:p>
          <a:p>
            <a:endParaRPr lang="en-US" b="1" dirty="0"/>
          </a:p>
          <a:p>
            <a:endParaRPr lang="en-IN" dirty="0"/>
          </a:p>
          <a:p>
            <a:r>
              <a:rPr lang="en-US" sz="1400" b="1" dirty="0"/>
              <a:t>Interpretation: </a:t>
            </a:r>
            <a:r>
              <a:rPr lang="en-US" sz="1400" dirty="0"/>
              <a:t>As per the above data, 59.8% respondents have portfolio of investing and 40.2% don’t have</a:t>
            </a:r>
            <a:r>
              <a:rPr lang="en-US" sz="1400" dirty="0" smtClean="0"/>
              <a:t>.</a:t>
            </a:r>
          </a:p>
          <a:p>
            <a:r>
              <a:rPr lang="en-US" sz="1400" b="1" dirty="0" smtClean="0"/>
              <a:t>Q3. </a:t>
            </a:r>
            <a:r>
              <a:rPr lang="en-IN" sz="1400" b="1" dirty="0"/>
              <a:t>If yes, what types of investments are in your portfolio</a:t>
            </a:r>
            <a:r>
              <a:rPr lang="en-IN" sz="1400" b="1" dirty="0" smtClean="0"/>
              <a:t>?</a:t>
            </a:r>
          </a:p>
          <a:p>
            <a:endParaRPr lang="en-US" sz="1400" b="1" dirty="0"/>
          </a:p>
          <a:p>
            <a:endParaRPr lang="en-US" sz="1400" b="1" dirty="0" smtClean="0"/>
          </a:p>
          <a:p>
            <a:endParaRPr lang="en-US" sz="1400" b="1" dirty="0"/>
          </a:p>
          <a:p>
            <a:endParaRPr lang="en-US" sz="1400" b="1" dirty="0" smtClean="0"/>
          </a:p>
          <a:p>
            <a:endParaRPr lang="en-US" sz="1400" b="1" dirty="0"/>
          </a:p>
          <a:p>
            <a:endParaRPr lang="en-US" sz="1400" b="1" dirty="0" smtClean="0"/>
          </a:p>
          <a:p>
            <a:endParaRPr lang="en-US" sz="1400" b="1" dirty="0"/>
          </a:p>
          <a:p>
            <a:endParaRPr lang="en-US" sz="1400" b="1" dirty="0" smtClean="0"/>
          </a:p>
          <a:p>
            <a:endParaRPr lang="en-US" sz="1400" b="1" dirty="0"/>
          </a:p>
          <a:p>
            <a:endParaRPr lang="en-IN" sz="1400" dirty="0"/>
          </a:p>
          <a:p>
            <a:r>
              <a:rPr lang="en-IN" sz="1400" b="1" dirty="0"/>
              <a:t> </a:t>
            </a:r>
            <a:endParaRPr lang="en-IN" sz="1400" dirty="0"/>
          </a:p>
          <a:p>
            <a:r>
              <a:rPr lang="en-US" sz="1400" b="1" dirty="0" smtClean="0"/>
              <a:t>Interpretation</a:t>
            </a:r>
            <a:r>
              <a:rPr lang="en-US" sz="1400" b="1" dirty="0"/>
              <a:t>: </a:t>
            </a:r>
            <a:r>
              <a:rPr lang="en-US" sz="1400" dirty="0"/>
              <a:t>As per the above data our of 107 people - 65 people invest in equity shares,49 invest in mutual funds,27 invest in real estate,23 in other alternative options,21 invest in commodities,21 invest in bonds,16 invest in debt bonds,14 invest in </a:t>
            </a:r>
            <a:r>
              <a:rPr lang="en-US" sz="1400" dirty="0" err="1"/>
              <a:t>govt</a:t>
            </a:r>
            <a:r>
              <a:rPr lang="en-US" sz="1400" dirty="0"/>
              <a:t> securities and 10 invest in ETFs.</a:t>
            </a:r>
            <a:endParaRPr lang="en-IN" sz="1400" dirty="0"/>
          </a:p>
          <a:p>
            <a:endParaRPr lang="en-IN" dirty="0"/>
          </a:p>
        </p:txBody>
      </p:sp>
      <p:pic>
        <p:nvPicPr>
          <p:cNvPr id="4" name="Picture 3"/>
          <p:cNvPicPr/>
          <p:nvPr/>
        </p:nvPicPr>
        <p:blipFill>
          <a:blip r:embed="rId3"/>
          <a:stretch>
            <a:fillRect/>
          </a:stretch>
        </p:blipFill>
        <p:spPr>
          <a:xfrm>
            <a:off x="1979712" y="420663"/>
            <a:ext cx="5700395" cy="1784201"/>
          </a:xfrm>
          <a:prstGeom prst="rect">
            <a:avLst/>
          </a:prstGeom>
        </p:spPr>
      </p:pic>
      <p:pic>
        <p:nvPicPr>
          <p:cNvPr id="5" name="Picture 4"/>
          <p:cNvPicPr/>
          <p:nvPr/>
        </p:nvPicPr>
        <p:blipFill>
          <a:blip r:embed="rId4"/>
          <a:stretch>
            <a:fillRect/>
          </a:stretch>
        </p:blipFill>
        <p:spPr>
          <a:xfrm>
            <a:off x="1979712" y="3140968"/>
            <a:ext cx="5948680" cy="2056775"/>
          </a:xfrm>
          <a:prstGeom prst="rect">
            <a:avLst/>
          </a:prstGeom>
        </p:spPr>
      </p:pic>
    </p:spTree>
    <p:extLst>
      <p:ext uri="{BB962C8B-B14F-4D97-AF65-F5344CB8AC3E}">
        <p14:creationId xmlns:p14="http://schemas.microsoft.com/office/powerpoint/2010/main" val="225561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56870" y="332656"/>
            <a:ext cx="7779626" cy="6340197"/>
          </a:xfrm>
          <a:prstGeom prst="rect">
            <a:avLst/>
          </a:prstGeom>
          <a:noFill/>
        </p:spPr>
        <p:txBody>
          <a:bodyPr wrap="square" rtlCol="0">
            <a:spAutoFit/>
          </a:bodyPr>
          <a:lstStyle/>
          <a:p>
            <a:r>
              <a:rPr lang="en-US" sz="1400" b="1" dirty="0"/>
              <a:t>Q </a:t>
            </a:r>
            <a:r>
              <a:rPr lang="en-US" sz="1400" b="1" dirty="0" smtClean="0"/>
              <a:t>4</a:t>
            </a:r>
            <a:r>
              <a:rPr lang="en-US" b="1" dirty="0" smtClean="0"/>
              <a:t>.</a:t>
            </a:r>
          </a:p>
          <a:p>
            <a:endParaRPr lang="en-US" b="1" dirty="0"/>
          </a:p>
          <a:p>
            <a:endParaRPr lang="en-US" b="1" dirty="0" smtClean="0"/>
          </a:p>
          <a:p>
            <a:endParaRPr lang="en-US" b="1" dirty="0"/>
          </a:p>
          <a:p>
            <a:endParaRPr lang="en-US" b="1" dirty="0" smtClean="0"/>
          </a:p>
          <a:p>
            <a:endParaRPr lang="en-US" b="1" dirty="0"/>
          </a:p>
          <a:p>
            <a:endParaRPr lang="en-IN" dirty="0"/>
          </a:p>
          <a:p>
            <a:endParaRPr lang="en-US" sz="1400" b="1" dirty="0" smtClean="0"/>
          </a:p>
          <a:p>
            <a:endParaRPr lang="en-US" sz="1400" b="1" dirty="0"/>
          </a:p>
          <a:p>
            <a:r>
              <a:rPr lang="en-US" sz="1400" b="1" dirty="0" smtClean="0"/>
              <a:t>Interpretation </a:t>
            </a:r>
            <a:r>
              <a:rPr lang="en-US" sz="1400" b="1" dirty="0"/>
              <a:t>:-</a:t>
            </a:r>
            <a:r>
              <a:rPr lang="en-US" sz="1400" dirty="0"/>
              <a:t>As per the above data 15% people reviewed their investment daily,19 % people reviewed monthly,33 % people reviewed weekly and 33% people were not fixed</a:t>
            </a:r>
            <a:r>
              <a:rPr lang="en-US" sz="1400" dirty="0" smtClean="0"/>
              <a:t>.</a:t>
            </a:r>
          </a:p>
          <a:p>
            <a:endParaRPr lang="en-US" sz="1400" dirty="0"/>
          </a:p>
          <a:p>
            <a:r>
              <a:rPr lang="en-US" sz="1400" b="1" dirty="0" smtClean="0"/>
              <a:t>Q-5 </a:t>
            </a:r>
          </a:p>
          <a:p>
            <a:endParaRPr lang="en-US" sz="1400" b="1" dirty="0"/>
          </a:p>
          <a:p>
            <a:endParaRPr lang="en-US" sz="1400" b="1" dirty="0" smtClean="0"/>
          </a:p>
          <a:p>
            <a:endParaRPr lang="en-US" sz="1400" b="1" dirty="0"/>
          </a:p>
          <a:p>
            <a:endParaRPr lang="en-US" sz="1400" b="1" dirty="0" smtClean="0"/>
          </a:p>
          <a:p>
            <a:endParaRPr lang="en-US" sz="1400" b="1" dirty="0"/>
          </a:p>
          <a:p>
            <a:endParaRPr lang="en-US" sz="1400" b="1" dirty="0" smtClean="0"/>
          </a:p>
          <a:p>
            <a:endParaRPr lang="en-US" sz="1400" b="1" dirty="0"/>
          </a:p>
          <a:p>
            <a:endParaRPr lang="en-US" sz="1400" b="1" dirty="0" smtClean="0"/>
          </a:p>
          <a:p>
            <a:endParaRPr lang="en-US" sz="1400" b="1" dirty="0"/>
          </a:p>
          <a:p>
            <a:endParaRPr lang="en-IN" sz="1400" dirty="0"/>
          </a:p>
          <a:p>
            <a:r>
              <a:rPr lang="en-US" sz="1400" b="1" dirty="0"/>
              <a:t> </a:t>
            </a:r>
            <a:endParaRPr lang="en-IN" sz="1400" dirty="0"/>
          </a:p>
          <a:p>
            <a:r>
              <a:rPr lang="en-US" sz="1400" b="1" dirty="0"/>
              <a:t>Interpretation ;-</a:t>
            </a:r>
            <a:r>
              <a:rPr lang="en-US" sz="1400" dirty="0"/>
              <a:t> As per the above data out of 107 people collect information ,65 people from online sources, 44 from self analysis, 37 from news channel, 29 from financial advisor, 26 people from broker and 2 people from other sources.</a:t>
            </a:r>
            <a:endParaRPr lang="en-IN" sz="1400" dirty="0"/>
          </a:p>
        </p:txBody>
      </p:sp>
      <p:pic>
        <p:nvPicPr>
          <p:cNvPr id="4" name="Picture 3"/>
          <p:cNvPicPr/>
          <p:nvPr/>
        </p:nvPicPr>
        <p:blipFill>
          <a:blip r:embed="rId3"/>
          <a:stretch>
            <a:fillRect/>
          </a:stretch>
        </p:blipFill>
        <p:spPr>
          <a:xfrm>
            <a:off x="1835696" y="332656"/>
            <a:ext cx="5472608" cy="2232248"/>
          </a:xfrm>
          <a:prstGeom prst="rect">
            <a:avLst/>
          </a:prstGeom>
        </p:spPr>
      </p:pic>
      <p:pic>
        <p:nvPicPr>
          <p:cNvPr id="5" name="Picture 4"/>
          <p:cNvPicPr/>
          <p:nvPr/>
        </p:nvPicPr>
        <p:blipFill>
          <a:blip r:embed="rId4"/>
          <a:stretch>
            <a:fillRect/>
          </a:stretch>
        </p:blipFill>
        <p:spPr>
          <a:xfrm>
            <a:off x="1621503" y="3284984"/>
            <a:ext cx="6039485" cy="2520279"/>
          </a:xfrm>
          <a:prstGeom prst="rect">
            <a:avLst/>
          </a:prstGeom>
        </p:spPr>
      </p:pic>
    </p:spTree>
    <p:extLst>
      <p:ext uri="{BB962C8B-B14F-4D97-AF65-F5344CB8AC3E}">
        <p14:creationId xmlns:p14="http://schemas.microsoft.com/office/powerpoint/2010/main" val="381540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15616" y="476672"/>
            <a:ext cx="7920880" cy="6247864"/>
          </a:xfrm>
          <a:prstGeom prst="rect">
            <a:avLst/>
          </a:prstGeom>
          <a:noFill/>
        </p:spPr>
        <p:txBody>
          <a:bodyPr wrap="square" rtlCol="0">
            <a:spAutoFit/>
          </a:bodyPr>
          <a:lstStyle/>
          <a:p>
            <a:r>
              <a:rPr lang="en-US" sz="1600" b="1" dirty="0" smtClean="0"/>
              <a:t>Q-6</a:t>
            </a:r>
          </a:p>
          <a:p>
            <a:endParaRPr lang="en-US" sz="1600" b="1" dirty="0"/>
          </a:p>
          <a:p>
            <a:endParaRPr lang="en-US" sz="1600" b="1" dirty="0" smtClean="0"/>
          </a:p>
          <a:p>
            <a:endParaRPr lang="en-US" sz="1600" b="1" dirty="0"/>
          </a:p>
          <a:p>
            <a:endParaRPr lang="en-US" sz="1600" b="1" dirty="0" smtClean="0"/>
          </a:p>
          <a:p>
            <a:endParaRPr lang="en-US" sz="1600" b="1" dirty="0"/>
          </a:p>
          <a:p>
            <a:endParaRPr lang="en-US" sz="1600" b="1" dirty="0" smtClean="0"/>
          </a:p>
          <a:p>
            <a:endParaRPr lang="en-US" sz="1600" b="1" dirty="0"/>
          </a:p>
          <a:p>
            <a:endParaRPr lang="en-IN" sz="1600" dirty="0"/>
          </a:p>
          <a:p>
            <a:r>
              <a:rPr lang="en-US" sz="1600" b="1" dirty="0"/>
              <a:t>Interpretation:- </a:t>
            </a:r>
            <a:r>
              <a:rPr lang="en-US" sz="1600" dirty="0"/>
              <a:t>As per the above data 42 % of people invest 5% of their total income, 32 % of people invest 10% of their total income, 15 % of people invest 15% of their total income and 11 % of people invest 20% of their total income</a:t>
            </a:r>
            <a:r>
              <a:rPr lang="en-US" sz="1600" dirty="0" smtClean="0"/>
              <a:t>.</a:t>
            </a:r>
          </a:p>
          <a:p>
            <a:endParaRPr lang="en-US" sz="1600" dirty="0"/>
          </a:p>
          <a:p>
            <a:r>
              <a:rPr lang="en-US" sz="1600" b="1" dirty="0"/>
              <a:t>Q- </a:t>
            </a:r>
            <a:r>
              <a:rPr lang="en-US" sz="1600" b="1" dirty="0"/>
              <a:t>7</a:t>
            </a:r>
            <a:endParaRPr lang="en-IN" sz="1600" dirty="0"/>
          </a:p>
          <a:p>
            <a:r>
              <a:rPr lang="en-US" sz="1600" b="1" dirty="0"/>
              <a:t> </a:t>
            </a:r>
            <a:endParaRPr lang="en-US" sz="1600" b="1" dirty="0" smtClean="0"/>
          </a:p>
          <a:p>
            <a:endParaRPr lang="en-US" sz="1600" b="1" dirty="0"/>
          </a:p>
          <a:p>
            <a:endParaRPr lang="en-US" sz="1600" b="1" dirty="0" smtClean="0"/>
          </a:p>
          <a:p>
            <a:endParaRPr lang="en-US" sz="1600" b="1" dirty="0"/>
          </a:p>
          <a:p>
            <a:endParaRPr lang="en-US" sz="1600" b="1" dirty="0" smtClean="0"/>
          </a:p>
          <a:p>
            <a:endParaRPr lang="en-US" sz="1600" b="1" dirty="0"/>
          </a:p>
          <a:p>
            <a:endParaRPr lang="en-US" sz="1600" b="1" dirty="0" smtClean="0"/>
          </a:p>
          <a:p>
            <a:endParaRPr lang="en-IN" sz="1600" dirty="0"/>
          </a:p>
          <a:p>
            <a:r>
              <a:rPr lang="en-US" sz="1600" b="1" dirty="0"/>
              <a:t> </a:t>
            </a:r>
            <a:endParaRPr lang="en-IN" sz="1600" dirty="0"/>
          </a:p>
          <a:p>
            <a:r>
              <a:rPr lang="en-US" sz="1600" b="1" dirty="0"/>
              <a:t>Interpretation :- </a:t>
            </a:r>
            <a:r>
              <a:rPr lang="en-US" sz="1600" dirty="0"/>
              <a:t>As per the above data people rate their current investment portfolio as 26% rated 1, 24% rated 3, 21% rated 2 and 20% rated 4 and 8% rated 5.</a:t>
            </a:r>
            <a:endParaRPr lang="en-IN" sz="1600" dirty="0"/>
          </a:p>
        </p:txBody>
      </p:sp>
      <p:pic>
        <p:nvPicPr>
          <p:cNvPr id="4" name="Picture 3"/>
          <p:cNvPicPr/>
          <p:nvPr/>
        </p:nvPicPr>
        <p:blipFill>
          <a:blip r:embed="rId3"/>
          <a:stretch>
            <a:fillRect/>
          </a:stretch>
        </p:blipFill>
        <p:spPr>
          <a:xfrm>
            <a:off x="1547664" y="476672"/>
            <a:ext cx="5801995" cy="2160240"/>
          </a:xfrm>
          <a:prstGeom prst="rect">
            <a:avLst/>
          </a:prstGeom>
        </p:spPr>
      </p:pic>
      <p:pic>
        <p:nvPicPr>
          <p:cNvPr id="5" name="Picture 4"/>
          <p:cNvPicPr/>
          <p:nvPr/>
        </p:nvPicPr>
        <p:blipFill>
          <a:blip r:embed="rId4"/>
          <a:stretch>
            <a:fillRect/>
          </a:stretch>
        </p:blipFill>
        <p:spPr>
          <a:xfrm>
            <a:off x="1763688" y="3639448"/>
            <a:ext cx="6011545" cy="2528570"/>
          </a:xfrm>
          <a:prstGeom prst="rect">
            <a:avLst/>
          </a:prstGeom>
        </p:spPr>
      </p:pic>
    </p:spTree>
    <p:extLst>
      <p:ext uri="{BB962C8B-B14F-4D97-AF65-F5344CB8AC3E}">
        <p14:creationId xmlns:p14="http://schemas.microsoft.com/office/powerpoint/2010/main" val="3346952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28249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87625" y="404664"/>
            <a:ext cx="7848872" cy="6494085"/>
          </a:xfrm>
          <a:prstGeom prst="rect">
            <a:avLst/>
          </a:prstGeom>
          <a:noFill/>
        </p:spPr>
        <p:txBody>
          <a:bodyPr wrap="square" rtlCol="0">
            <a:spAutoFit/>
          </a:bodyPr>
          <a:lstStyle/>
          <a:p>
            <a:r>
              <a:rPr lang="en-US" sz="1600" b="1" dirty="0" smtClean="0"/>
              <a:t>Q-7</a:t>
            </a:r>
          </a:p>
          <a:p>
            <a:endParaRPr lang="en-US" sz="1600" b="1" dirty="0"/>
          </a:p>
          <a:p>
            <a:endParaRPr lang="en-US" sz="1600" b="1" dirty="0" smtClean="0"/>
          </a:p>
          <a:p>
            <a:endParaRPr lang="en-US" sz="1600" b="1" dirty="0"/>
          </a:p>
          <a:p>
            <a:endParaRPr lang="en-US" sz="1600" b="1" dirty="0" smtClean="0"/>
          </a:p>
          <a:p>
            <a:endParaRPr lang="en-US" sz="1600" b="1" dirty="0"/>
          </a:p>
          <a:p>
            <a:endParaRPr lang="en-US" sz="1600" b="1" dirty="0" smtClean="0"/>
          </a:p>
          <a:p>
            <a:endParaRPr lang="en-US" sz="1600" b="1" dirty="0"/>
          </a:p>
          <a:p>
            <a:endParaRPr lang="en-US" sz="1600" b="1" dirty="0" smtClean="0"/>
          </a:p>
          <a:p>
            <a:endParaRPr lang="en-IN" sz="1600" dirty="0"/>
          </a:p>
          <a:p>
            <a:r>
              <a:rPr lang="en-US" sz="1600" b="1" dirty="0"/>
              <a:t>Interpretation:-</a:t>
            </a:r>
            <a:r>
              <a:rPr lang="en-US" sz="1600" dirty="0"/>
              <a:t> As per the above data 54 % of people says yes that they have consulted with financial advisor about their investment and 46% people  says not</a:t>
            </a:r>
            <a:r>
              <a:rPr lang="en-US" sz="1600" dirty="0" smtClean="0"/>
              <a:t>.</a:t>
            </a:r>
          </a:p>
          <a:p>
            <a:endParaRPr lang="en-US" sz="1600" dirty="0"/>
          </a:p>
          <a:p>
            <a:r>
              <a:rPr lang="en-US" sz="1600" b="1" dirty="0"/>
              <a:t>Q- </a:t>
            </a:r>
            <a:r>
              <a:rPr lang="en-US" sz="1600" b="1" dirty="0" smtClean="0"/>
              <a:t>14</a:t>
            </a:r>
          </a:p>
          <a:p>
            <a:endParaRPr lang="en-US" sz="1600" b="1" dirty="0"/>
          </a:p>
          <a:p>
            <a:endParaRPr lang="en-US" sz="1600" b="1" dirty="0" smtClean="0"/>
          </a:p>
          <a:p>
            <a:endParaRPr lang="en-US" sz="1600" b="1" dirty="0"/>
          </a:p>
          <a:p>
            <a:endParaRPr lang="en-US" sz="1600" b="1" dirty="0" smtClean="0"/>
          </a:p>
          <a:p>
            <a:endParaRPr lang="en-US" sz="1600" b="1" dirty="0"/>
          </a:p>
          <a:p>
            <a:endParaRPr lang="en-US" sz="1600" b="1" dirty="0" smtClean="0"/>
          </a:p>
          <a:p>
            <a:endParaRPr lang="en-US" sz="1600" b="1" dirty="0"/>
          </a:p>
          <a:p>
            <a:endParaRPr lang="en-IN" sz="1600" dirty="0"/>
          </a:p>
          <a:p>
            <a:r>
              <a:rPr lang="en-US" sz="1600" b="1" dirty="0"/>
              <a:t> </a:t>
            </a:r>
            <a:endParaRPr lang="en-IN" sz="1600" dirty="0"/>
          </a:p>
          <a:p>
            <a:r>
              <a:rPr lang="en-US" sz="1600" b="1" dirty="0"/>
              <a:t>Interpretation :- </a:t>
            </a:r>
            <a:r>
              <a:rPr lang="en-US" sz="1600" dirty="0"/>
              <a:t>As per the above out of 107 people 71 people invest in equity shares, 58 people in mutual funds, 56 people in FDs, 29 people in bonds, 25 people in commodities, 17 people in currency,1 in crypto-currency, 1 in land and 2 people in other.</a:t>
            </a:r>
            <a:endParaRPr lang="en-IN" sz="1600" dirty="0"/>
          </a:p>
        </p:txBody>
      </p:sp>
      <p:pic>
        <p:nvPicPr>
          <p:cNvPr id="4" name="Picture 3"/>
          <p:cNvPicPr/>
          <p:nvPr/>
        </p:nvPicPr>
        <p:blipFill>
          <a:blip r:embed="rId3"/>
          <a:stretch>
            <a:fillRect/>
          </a:stretch>
        </p:blipFill>
        <p:spPr>
          <a:xfrm>
            <a:off x="1682948" y="404664"/>
            <a:ext cx="5711825" cy="2448272"/>
          </a:xfrm>
          <a:prstGeom prst="rect">
            <a:avLst/>
          </a:prstGeom>
        </p:spPr>
      </p:pic>
      <p:pic>
        <p:nvPicPr>
          <p:cNvPr id="5" name="Picture 4"/>
          <p:cNvPicPr/>
          <p:nvPr/>
        </p:nvPicPr>
        <p:blipFill>
          <a:blip r:embed="rId4"/>
          <a:stretch>
            <a:fillRect/>
          </a:stretch>
        </p:blipFill>
        <p:spPr>
          <a:xfrm>
            <a:off x="1835696" y="3494543"/>
            <a:ext cx="6213475" cy="2526745"/>
          </a:xfrm>
          <a:prstGeom prst="rect">
            <a:avLst/>
          </a:prstGeom>
        </p:spPr>
      </p:pic>
    </p:spTree>
    <p:extLst>
      <p:ext uri="{BB962C8B-B14F-4D97-AF65-F5344CB8AC3E}">
        <p14:creationId xmlns:p14="http://schemas.microsoft.com/office/powerpoint/2010/main" val="598262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9271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24680" y="260648"/>
            <a:ext cx="9073008" cy="707886"/>
          </a:xfrm>
          <a:prstGeom prst="rect">
            <a:avLst/>
          </a:prstGeom>
          <a:noFill/>
        </p:spPr>
        <p:txBody>
          <a:bodyPr wrap="square" rtlCol="0">
            <a:spAutoFit/>
          </a:bodyPr>
          <a:lstStyle/>
          <a:p>
            <a:pPr algn="ctr"/>
            <a:r>
              <a:rPr lang="en-IN" sz="4000" b="1" dirty="0">
                <a:latin typeface="Bodoni MT Black" pitchFamily="18" charset="0"/>
              </a:rPr>
              <a:t>FINDINGS </a:t>
            </a:r>
            <a:r>
              <a:rPr lang="en-IN" sz="4000" b="1" dirty="0" smtClean="0">
                <a:latin typeface="Bodoni MT Black" pitchFamily="18" charset="0"/>
              </a:rPr>
              <a:t>AND CONCLUSION</a:t>
            </a:r>
            <a:endParaRPr lang="en-IN" sz="4000" b="1" dirty="0">
              <a:latin typeface="Bodoni MT Black" pitchFamily="18" charset="0"/>
            </a:endParaRPr>
          </a:p>
        </p:txBody>
      </p:sp>
      <p:sp>
        <p:nvSpPr>
          <p:cNvPr id="4" name="TextBox 3"/>
          <p:cNvSpPr txBox="1"/>
          <p:nvPr/>
        </p:nvSpPr>
        <p:spPr>
          <a:xfrm>
            <a:off x="1115616" y="1141992"/>
            <a:ext cx="7920880" cy="6001643"/>
          </a:xfrm>
          <a:prstGeom prst="rect">
            <a:avLst/>
          </a:prstGeom>
          <a:noFill/>
        </p:spPr>
        <p:txBody>
          <a:bodyPr wrap="square" rtlCol="0">
            <a:spAutoFit/>
          </a:bodyPr>
          <a:lstStyle/>
          <a:p>
            <a:r>
              <a:rPr lang="en-US" sz="1600" b="1" dirty="0" smtClean="0"/>
              <a:t>Findings-</a:t>
            </a:r>
          </a:p>
          <a:p>
            <a:r>
              <a:rPr lang="en-US" sz="1600" b="1" dirty="0" smtClean="0"/>
              <a:t>1</a:t>
            </a:r>
            <a:r>
              <a:rPr lang="en-US" sz="1600" b="1" dirty="0"/>
              <a:t>. Risk tolerance:</a:t>
            </a:r>
            <a:r>
              <a:rPr lang="en-US" sz="1600" dirty="0"/>
              <a:t> Investors should assess their risk tolerance, which is the level of uncertainty they are willing to accept in their investments. This evaluation helps determine the appropriate asset allocation and investment strategy.</a:t>
            </a:r>
            <a:endParaRPr lang="en-IN" sz="1600" dirty="0"/>
          </a:p>
          <a:p>
            <a:r>
              <a:rPr lang="en-US" sz="1600" b="1" dirty="0" smtClean="0"/>
              <a:t>2</a:t>
            </a:r>
            <a:r>
              <a:rPr lang="en-US" sz="1600" b="1" dirty="0"/>
              <a:t>. Diversification:</a:t>
            </a:r>
            <a:r>
              <a:rPr lang="en-US" sz="1600" dirty="0"/>
              <a:t> Diversifying a portfolio across different asset classes (e.g., stocks, bonds, real estate) can help reduce risk. By spreading investments across various sectors and industries, the impact of a single investment's performance is minimized.</a:t>
            </a:r>
            <a:endParaRPr lang="en-IN" sz="1600" dirty="0"/>
          </a:p>
          <a:p>
            <a:r>
              <a:rPr lang="en-US" sz="1600" b="1" dirty="0"/>
              <a:t>3. Investment goals:</a:t>
            </a:r>
            <a:r>
              <a:rPr lang="en-US" sz="1600" dirty="0"/>
              <a:t> Clearly defining investment goals is crucial. Whether the objective is long-term wealth accumulation, income generation, or capital preservation, investment decisions should align with these goals.</a:t>
            </a:r>
            <a:endParaRPr lang="en-IN" sz="1600" dirty="0"/>
          </a:p>
          <a:p>
            <a:r>
              <a:rPr lang="en-US" sz="1600" dirty="0"/>
              <a:t> </a:t>
            </a:r>
            <a:r>
              <a:rPr lang="en-US" sz="1600" b="1" dirty="0" smtClean="0"/>
              <a:t>4</a:t>
            </a:r>
            <a:r>
              <a:rPr lang="en-US" sz="1600" b="1" dirty="0"/>
              <a:t>. Fundamental analysis:</a:t>
            </a:r>
            <a:r>
              <a:rPr lang="en-US" sz="1600" dirty="0"/>
              <a:t> Conducting fundamental analysis involves assessing the financial health, performance, and prospects of individual securities. Factors such as earnings growth, valuation, competitive positioning, and industry trends are considered to evaluate the investment potential of a company.</a:t>
            </a:r>
            <a:endParaRPr lang="en-IN" sz="1600" dirty="0"/>
          </a:p>
          <a:p>
            <a:r>
              <a:rPr lang="en-US" sz="1600" dirty="0"/>
              <a:t> </a:t>
            </a:r>
            <a:r>
              <a:rPr lang="en-US" sz="1600" b="1" dirty="0" smtClean="0"/>
              <a:t>5</a:t>
            </a:r>
            <a:r>
              <a:rPr lang="en-US" sz="1600" b="1" dirty="0"/>
              <a:t>. Technical analysis: </a:t>
            </a:r>
            <a:r>
              <a:rPr lang="en-US" sz="1600" dirty="0"/>
              <a:t>Technical analysis involves studying past price and volume patterns to identify trends and make predictions about future price movements. Technical indicators and chart patterns are used to assist in investment decision-making.</a:t>
            </a:r>
            <a:endParaRPr lang="en-IN" sz="1600" dirty="0"/>
          </a:p>
          <a:p>
            <a:r>
              <a:rPr lang="en-US" sz="1600" dirty="0"/>
              <a:t> </a:t>
            </a:r>
            <a:r>
              <a:rPr lang="en-US" sz="1600" b="1" dirty="0" smtClean="0"/>
              <a:t>6</a:t>
            </a:r>
            <a:r>
              <a:rPr lang="en-US" sz="1600" b="1" dirty="0"/>
              <a:t>. Market research</a:t>
            </a:r>
            <a:r>
              <a:rPr lang="en-US" sz="1600" dirty="0"/>
              <a:t>: Staying informed about the market conditions, economic trends, and regulatory environment is essential. Monitoring news, industry reports, and economic indicators can provide valuable insights for investment decisions.</a:t>
            </a:r>
            <a:endParaRPr lang="en-IN" sz="1600" dirty="0"/>
          </a:p>
          <a:p>
            <a:r>
              <a:rPr lang="en-US" sz="1600" dirty="0"/>
              <a:t> </a:t>
            </a:r>
            <a:r>
              <a:rPr lang="en-US" sz="1600" b="1" dirty="0" smtClean="0"/>
              <a:t>7</a:t>
            </a:r>
            <a:r>
              <a:rPr lang="en-US" sz="1600" b="1" dirty="0"/>
              <a:t>. Performance evaluation:</a:t>
            </a:r>
            <a:r>
              <a:rPr lang="en-US" sz="1600" dirty="0"/>
              <a:t> Regularly reviewing the performance of investments is crucial. This assessment involves comparing portfolio returns against benchmarks, analyzing risk-adjusted returns, and identifying underperforming assets for potential adjustments.</a:t>
            </a:r>
            <a:endParaRPr lang="en-IN" sz="1600" dirty="0"/>
          </a:p>
          <a:p>
            <a:endParaRPr lang="en-IN" sz="1600" dirty="0">
              <a:latin typeface="Constantia" pitchFamily="18" charset="0"/>
            </a:endParaRPr>
          </a:p>
        </p:txBody>
      </p:sp>
    </p:spTree>
    <p:extLst>
      <p:ext uri="{BB962C8B-B14F-4D97-AF65-F5344CB8AC3E}">
        <p14:creationId xmlns:p14="http://schemas.microsoft.com/office/powerpoint/2010/main" val="220493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69271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39552" y="144144"/>
            <a:ext cx="8496944" cy="6801862"/>
          </a:xfrm>
          <a:prstGeom prst="rect">
            <a:avLst/>
          </a:prstGeom>
          <a:noFill/>
        </p:spPr>
        <p:txBody>
          <a:bodyPr wrap="square" rtlCol="0">
            <a:spAutoFit/>
          </a:bodyPr>
          <a:lstStyle/>
          <a:p>
            <a:pPr algn="ctr"/>
            <a:r>
              <a:rPr lang="en-US" sz="2000" b="1" dirty="0" smtClean="0"/>
              <a:t>Conclusion</a:t>
            </a:r>
          </a:p>
          <a:p>
            <a:r>
              <a:rPr lang="en-US" sz="1600" dirty="0" smtClean="0"/>
              <a:t>To </a:t>
            </a:r>
            <a:r>
              <a:rPr lang="en-US" sz="1600" dirty="0"/>
              <a:t>study the importance of portfolio analysis and investing choices in Delhi NCR requires a comprehensive understanding of various factors and considerations. The findings suggest that investors in the region should carefully assess their risk tolerance and investment goals to determine an appropriate asset allocation strategy.</a:t>
            </a:r>
            <a:endParaRPr lang="en-IN" sz="1600" dirty="0"/>
          </a:p>
          <a:p>
            <a:r>
              <a:rPr lang="en-US" sz="1600" dirty="0"/>
              <a:t>Diversification emerges as a crucial element in portfolio evaluation, as spreading investments across different asset classes and sectors can help mitigate risk and enhance potential returns. By avoiding overexposure to a single security or industry, investors can reduce the impact of market fluctuations on their portfolio performance.</a:t>
            </a:r>
            <a:endParaRPr lang="en-IN" sz="1600" dirty="0"/>
          </a:p>
          <a:p>
            <a:r>
              <a:rPr lang="en-US" sz="1600" dirty="0"/>
              <a:t>Fundamental analysis plays a significant role in evaluating individual securities. By assessing the financial health, performance, and prospects of companies operating in Delhi NCR, investors can make informed decisions about their inclusion in the portfolio. Factors such as earnings growth, valuation, competitive positioning, and industry trends should be thoroughly examined.</a:t>
            </a:r>
            <a:endParaRPr lang="en-IN" sz="1600" dirty="0"/>
          </a:p>
          <a:p>
            <a:r>
              <a:rPr lang="en-US" sz="1600" dirty="0"/>
              <a:t>Additionally, incorporating technical analysis techniques can provide further insights into price trends and potential entry or exit points. Monitoring market conditions, economic indicators, and regulatory developments specific to Delhi NCR is essential for making informed investment decisions.</a:t>
            </a:r>
            <a:endParaRPr lang="en-IN" sz="1600" dirty="0"/>
          </a:p>
          <a:p>
            <a:r>
              <a:rPr lang="en-US" sz="1600" dirty="0"/>
              <a:t>Regular performance evaluation is crucial to track the progress of the portfolio and identify areas for adjustments or rebalancing. Comparing portfolio returns against relevant benchmarks and considering risk-adjusted returns helps investors gauge the effectiveness of their investment strategies.</a:t>
            </a:r>
            <a:endParaRPr lang="en-IN" sz="1600" dirty="0"/>
          </a:p>
          <a:p>
            <a:r>
              <a:rPr lang="en-US" sz="1600" dirty="0"/>
              <a:t> </a:t>
            </a:r>
            <a:r>
              <a:rPr lang="en-US" sz="1600" dirty="0" smtClean="0"/>
              <a:t>In </a:t>
            </a:r>
            <a:r>
              <a:rPr lang="en-US" sz="1600" dirty="0"/>
              <a:t>conclusion, to study the importance of portfolio analysis and investing choices in Delhi NCR necessitates a well-rounded approach that encompasses risk assessment, diversification, fundamental and technical analysis, market research, and performance evaluation. By employing a systematic and informed investment approach, investors can enhance their chances of achieving their financial goals in the context of the Delhi NCR region.</a:t>
            </a:r>
            <a:endParaRPr lang="en-IN" sz="1600" dirty="0"/>
          </a:p>
          <a:p>
            <a:endParaRPr lang="en-IN" b="1" dirty="0"/>
          </a:p>
        </p:txBody>
      </p:sp>
    </p:spTree>
    <p:extLst>
      <p:ext uri="{BB962C8B-B14F-4D97-AF65-F5344CB8AC3E}">
        <p14:creationId xmlns:p14="http://schemas.microsoft.com/office/powerpoint/2010/main" val="221349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6" y="0"/>
            <a:ext cx="9144001" cy="69271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59632" y="0"/>
            <a:ext cx="7704856" cy="707886"/>
          </a:xfrm>
          <a:prstGeom prst="rect">
            <a:avLst/>
          </a:prstGeom>
          <a:noFill/>
        </p:spPr>
        <p:txBody>
          <a:bodyPr wrap="square" rtlCol="0">
            <a:spAutoFit/>
          </a:bodyPr>
          <a:lstStyle/>
          <a:p>
            <a:pPr algn="ctr"/>
            <a:r>
              <a:rPr lang="en-IN" sz="4000" b="1" dirty="0">
                <a:solidFill>
                  <a:srgbClr val="002060"/>
                </a:solidFill>
                <a:latin typeface="Bodoni MT Black" pitchFamily="18" charset="0"/>
              </a:rPr>
              <a:t>REFERENCES</a:t>
            </a:r>
            <a:endParaRPr lang="en-IN" sz="4000" b="1" dirty="0">
              <a:solidFill>
                <a:srgbClr val="002060"/>
              </a:solidFill>
              <a:latin typeface="Bodoni MT Black" pitchFamily="18" charset="0"/>
            </a:endParaRPr>
          </a:p>
        </p:txBody>
      </p:sp>
      <p:sp>
        <p:nvSpPr>
          <p:cNvPr id="4" name="TextBox 3"/>
          <p:cNvSpPr txBox="1"/>
          <p:nvPr/>
        </p:nvSpPr>
        <p:spPr>
          <a:xfrm>
            <a:off x="1223628" y="719346"/>
            <a:ext cx="7776864" cy="6063198"/>
          </a:xfrm>
          <a:prstGeom prst="rect">
            <a:avLst/>
          </a:prstGeom>
          <a:noFill/>
        </p:spPr>
        <p:txBody>
          <a:bodyPr wrap="square" rtlCol="0">
            <a:spAutoFit/>
          </a:bodyPr>
          <a:lstStyle/>
          <a:p>
            <a:r>
              <a:rPr lang="en-IN" sz="1600" dirty="0"/>
              <a:t>1. </a:t>
            </a:r>
            <a:r>
              <a:rPr lang="en-IN" sz="1600" dirty="0" err="1"/>
              <a:t>Aouni</a:t>
            </a:r>
            <a:r>
              <a:rPr lang="en-IN" sz="1600" dirty="0"/>
              <a:t>, B., </a:t>
            </a:r>
            <a:r>
              <a:rPr lang="en-IN" sz="1600" dirty="0" err="1"/>
              <a:t>Doumpos</a:t>
            </a:r>
            <a:r>
              <a:rPr lang="en-IN" sz="1600" dirty="0"/>
              <a:t>, M., Pérez-</a:t>
            </a:r>
            <a:r>
              <a:rPr lang="en-IN" sz="1600" dirty="0" err="1"/>
              <a:t>Gladish</a:t>
            </a:r>
            <a:r>
              <a:rPr lang="en-IN" sz="1600" dirty="0"/>
              <a:t>, B., &amp; </a:t>
            </a:r>
            <a:r>
              <a:rPr lang="en-IN" sz="1600" dirty="0" err="1"/>
              <a:t>Steuer</a:t>
            </a:r>
            <a:r>
              <a:rPr lang="en-IN" sz="1600" dirty="0"/>
              <a:t>, R. E. (2018). On the increasing importance of multiple criteria decision aid methods for portfolio selection. Journal of the Operational Research Society, 69(10), 1525-1542. </a:t>
            </a:r>
          </a:p>
          <a:p>
            <a:r>
              <a:rPr lang="en-IN" sz="1600" dirty="0"/>
              <a:t>2. Khan, M. Z. U. (2018). Impact of availability bias and loss aversion bias on investment decision making, moderating role of risk perception. Management &amp; Administration (IMPACT: JMDGMA), 1(1), 17-28. </a:t>
            </a:r>
          </a:p>
          <a:p>
            <a:r>
              <a:rPr lang="en-IN" sz="1600" dirty="0"/>
              <a:t>3. </a:t>
            </a:r>
            <a:r>
              <a:rPr lang="en-IN" sz="1600" dirty="0" err="1"/>
              <a:t>Lyandres</a:t>
            </a:r>
            <a:r>
              <a:rPr lang="en-IN" sz="1600" dirty="0"/>
              <a:t>, E., </a:t>
            </a:r>
            <a:r>
              <a:rPr lang="en-IN" sz="1600" dirty="0" err="1"/>
              <a:t>Matveyev</a:t>
            </a:r>
            <a:r>
              <a:rPr lang="en-IN" sz="1600" dirty="0"/>
              <a:t>, E., &amp; Zhdanov, A. (2018). </a:t>
            </a:r>
            <a:r>
              <a:rPr lang="en-IN" sz="1600" dirty="0" err="1"/>
              <a:t>Misvaluation</a:t>
            </a:r>
            <a:r>
              <a:rPr lang="en-IN" sz="1600" dirty="0"/>
              <a:t> of investment options. working paper. </a:t>
            </a:r>
          </a:p>
          <a:p>
            <a:r>
              <a:rPr lang="en-IN" sz="1600" dirty="0"/>
              <a:t>4. </a:t>
            </a:r>
            <a:r>
              <a:rPr lang="en-IN" sz="1600" dirty="0" err="1"/>
              <a:t>Adil</a:t>
            </a:r>
            <a:r>
              <a:rPr lang="en-IN" sz="1600" dirty="0"/>
              <a:t>, M., Singh, Y., &amp; Ansari, M. S. (2022). How financial literacy moderate the association between behaviour biases and investment decision?. Asian Journal of Accounting Research, 7(1), 17-30. </a:t>
            </a:r>
          </a:p>
          <a:p>
            <a:r>
              <a:rPr lang="en-IN" sz="1600" dirty="0"/>
              <a:t>5. </a:t>
            </a:r>
            <a:r>
              <a:rPr lang="en-IN" sz="1600" dirty="0" err="1"/>
              <a:t>Pavolova</a:t>
            </a:r>
            <a:r>
              <a:rPr lang="en-IN" sz="1600" dirty="0"/>
              <a:t>, H., BAKALÁR, T., KYŠEĽA, K., </a:t>
            </a:r>
            <a:r>
              <a:rPr lang="en-IN" sz="1600" dirty="0" err="1"/>
              <a:t>Klimek</a:t>
            </a:r>
            <a:r>
              <a:rPr lang="en-IN" sz="1600" dirty="0"/>
              <a:t>, M., </a:t>
            </a:r>
            <a:r>
              <a:rPr lang="en-IN" sz="1600" dirty="0" err="1"/>
              <a:t>Hajduova</a:t>
            </a:r>
            <a:r>
              <a:rPr lang="en-IN" sz="1600" dirty="0"/>
              <a:t>, Z., &amp; </a:t>
            </a:r>
            <a:r>
              <a:rPr lang="en-IN" sz="1600" dirty="0" err="1"/>
              <a:t>Zawada</a:t>
            </a:r>
            <a:r>
              <a:rPr lang="en-IN" sz="1600" dirty="0"/>
              <a:t>, M. (2021). The analysis of investment into industries based on portfolio managers. </a:t>
            </a:r>
            <a:r>
              <a:rPr lang="en-IN" sz="1600" dirty="0" err="1"/>
              <a:t>Acta</a:t>
            </a:r>
            <a:r>
              <a:rPr lang="en-IN" sz="1600" dirty="0"/>
              <a:t> </a:t>
            </a:r>
            <a:r>
              <a:rPr lang="en-IN" sz="1600" dirty="0" err="1"/>
              <a:t>Montanistica</a:t>
            </a:r>
            <a:r>
              <a:rPr lang="en-IN" sz="1600" dirty="0"/>
              <a:t> </a:t>
            </a:r>
            <a:r>
              <a:rPr lang="en-IN" sz="1600" dirty="0" err="1"/>
              <a:t>Slovaca</a:t>
            </a:r>
            <a:r>
              <a:rPr lang="en-IN" sz="1600" dirty="0"/>
              <a:t>, 26(1). </a:t>
            </a:r>
          </a:p>
          <a:p>
            <a:r>
              <a:rPr lang="en-IN" sz="1600" dirty="0"/>
              <a:t>6. </a:t>
            </a:r>
            <a:r>
              <a:rPr lang="en-IN" sz="1600" dirty="0" err="1"/>
              <a:t>Adner</a:t>
            </a:r>
            <a:r>
              <a:rPr lang="en-IN" sz="1600" dirty="0"/>
              <a:t>, R., &amp; </a:t>
            </a:r>
            <a:r>
              <a:rPr lang="en-IN" sz="1600" dirty="0" err="1"/>
              <a:t>Feiler</a:t>
            </a:r>
            <a:r>
              <a:rPr lang="en-IN" sz="1600" dirty="0"/>
              <a:t>, D. (2019). Interdependence, perception, and investment choices: An experimental approach to decision making in innovation ecosystems. Organization science, 30(1), 109-125. </a:t>
            </a:r>
          </a:p>
          <a:p>
            <a:r>
              <a:rPr lang="en-IN" sz="1600" dirty="0"/>
              <a:t>7. </a:t>
            </a:r>
            <a:r>
              <a:rPr lang="en-IN" sz="1600" dirty="0" err="1"/>
              <a:t>Aren</a:t>
            </a:r>
            <a:r>
              <a:rPr lang="en-IN" sz="1600" dirty="0"/>
              <a:t>, S., &amp; </a:t>
            </a:r>
            <a:r>
              <a:rPr lang="en-IN" sz="1600" dirty="0" err="1"/>
              <a:t>Hamamci</a:t>
            </a:r>
            <a:r>
              <a:rPr lang="en-IN" sz="1600" dirty="0"/>
              <a:t>, H. N. (2020). Relationship between risk aversion, risky investment intention, investment choices: Impact of personality traits and emotion. </a:t>
            </a:r>
            <a:r>
              <a:rPr lang="en-IN" sz="1600" dirty="0" err="1"/>
              <a:t>Kybernetes</a:t>
            </a:r>
            <a:r>
              <a:rPr lang="en-IN" sz="1600" dirty="0"/>
              <a:t>, 49(11), 2651-2682. </a:t>
            </a:r>
          </a:p>
          <a:p>
            <a:r>
              <a:rPr lang="en-IN" sz="1600" dirty="0"/>
              <a:t>8. </a:t>
            </a:r>
            <a:r>
              <a:rPr lang="en-IN" sz="1600" dirty="0" err="1"/>
              <a:t>Alexandrovich</a:t>
            </a:r>
            <a:r>
              <a:rPr lang="en-IN" sz="1600" dirty="0"/>
              <a:t>, E. D., </a:t>
            </a:r>
            <a:r>
              <a:rPr lang="en-IN" sz="1600" dirty="0" err="1"/>
              <a:t>Vladimirovich</a:t>
            </a:r>
            <a:r>
              <a:rPr lang="en-IN" sz="1600" dirty="0"/>
              <a:t>, D. V., &amp; </a:t>
            </a:r>
            <a:r>
              <a:rPr lang="en-IN" sz="1600" dirty="0" err="1"/>
              <a:t>Valeryevna</a:t>
            </a:r>
            <a:r>
              <a:rPr lang="en-IN" sz="1600" dirty="0"/>
              <a:t>, D. M. (2019). A new approach to </a:t>
            </a:r>
            <a:r>
              <a:rPr lang="en-IN" sz="1600" dirty="0" err="1"/>
              <a:t>modeling</a:t>
            </a:r>
            <a:r>
              <a:rPr lang="en-IN" sz="1600" dirty="0"/>
              <a:t> and analysis portfolio investment solutions. </a:t>
            </a:r>
            <a:r>
              <a:rPr lang="en-IN" sz="1600" dirty="0" err="1"/>
              <a:t>Opción</a:t>
            </a:r>
            <a:r>
              <a:rPr lang="en-IN" sz="1600" dirty="0"/>
              <a:t>: </a:t>
            </a:r>
            <a:r>
              <a:rPr lang="en-IN" sz="1600" dirty="0" err="1"/>
              <a:t>Revista</a:t>
            </a:r>
            <a:r>
              <a:rPr lang="en-IN" sz="1600" dirty="0"/>
              <a:t> de </a:t>
            </a:r>
            <a:r>
              <a:rPr lang="en-IN" sz="1600" dirty="0" err="1"/>
              <a:t>Ciencias</a:t>
            </a:r>
            <a:r>
              <a:rPr lang="en-IN" sz="1600" dirty="0"/>
              <a:t> </a:t>
            </a:r>
            <a:r>
              <a:rPr lang="en-IN" sz="1600" dirty="0" err="1"/>
              <a:t>Humanas</a:t>
            </a:r>
            <a:r>
              <a:rPr lang="en-IN" sz="1600" dirty="0"/>
              <a:t> y </a:t>
            </a:r>
            <a:r>
              <a:rPr lang="en-IN" sz="1600" dirty="0" err="1"/>
              <a:t>Sociales</a:t>
            </a:r>
            <a:r>
              <a:rPr lang="en-IN" sz="1600" dirty="0"/>
              <a:t>, (24), 420-440. </a:t>
            </a:r>
          </a:p>
          <a:p>
            <a:endParaRPr lang="en-IN" sz="2000" dirty="0"/>
          </a:p>
        </p:txBody>
      </p:sp>
    </p:spTree>
    <p:extLst>
      <p:ext uri="{BB962C8B-B14F-4D97-AF65-F5344CB8AC3E}">
        <p14:creationId xmlns:p14="http://schemas.microsoft.com/office/powerpoint/2010/main" val="2608657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6" y="0"/>
            <a:ext cx="9144001" cy="69271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115616" y="260648"/>
            <a:ext cx="7776864" cy="707886"/>
          </a:xfrm>
          <a:prstGeom prst="rect">
            <a:avLst/>
          </a:prstGeom>
          <a:noFill/>
        </p:spPr>
        <p:txBody>
          <a:bodyPr wrap="square" rtlCol="0">
            <a:spAutoFit/>
          </a:bodyPr>
          <a:lstStyle/>
          <a:p>
            <a:pPr algn="ctr"/>
            <a:r>
              <a:rPr lang="en-IN" sz="4000" b="1" dirty="0">
                <a:latin typeface="Bodoni MT Black" pitchFamily="18" charset="0"/>
              </a:rPr>
              <a:t>PLAGIARISM REPORT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454" y="1196752"/>
            <a:ext cx="6794946" cy="259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041" y="4077072"/>
            <a:ext cx="5991771" cy="2473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8035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bstract Blue Template - Free PPT Backgrounds and Templ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6" y="0"/>
            <a:ext cx="9144001" cy="692710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523502"/>
            <a:ext cx="7128792"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4986" y="3654386"/>
            <a:ext cx="6871470"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1635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o Start Investing in Singapo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7505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732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1945</Words>
  <Application>Microsoft Office PowerPoint</Application>
  <PresentationFormat>On-screen Show (4:3)</PresentationFormat>
  <Paragraphs>168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COMPANY PROFILE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Asus</cp:lastModifiedBy>
  <cp:revision>21</cp:revision>
  <dcterms:created xsi:type="dcterms:W3CDTF">2022-10-16T18:17:35Z</dcterms:created>
  <dcterms:modified xsi:type="dcterms:W3CDTF">2023-06-06T16:28:28Z</dcterms:modified>
</cp:coreProperties>
</file>